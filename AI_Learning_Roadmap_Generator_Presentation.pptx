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AI Learning Roadmap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GenAI / RAG-Based Personalized Learning Roadmap Application</a:t>
            </a:r>
          </a:p>
          <a:p>
            <a:br/>
            <a:pPr algn="ctr">
              <a:defRPr sz="1800" b="1"/>
            </a:pPr>
            <a:r>
              <a:t>Team Members</a:t>
            </a:r>
          </a:p>
          <a:p>
            <a:pPr algn="ctr">
              <a:defRPr sz="1800"/>
            </a:pPr>
            <a:r>
              <a:t>Y. Lakshmi Prasanna</a:t>
            </a:r>
          </a:p>
          <a:p>
            <a:pPr algn="ctr">
              <a:defRPr sz="1800"/>
            </a:pPr>
            <a:r>
              <a:t>R. Jayapriya</a:t>
            </a:r>
          </a:p>
          <a:p>
            <a:pPr algn="ctr">
              <a:defRPr sz="1800"/>
            </a:pPr>
            <a:r>
              <a:t>Alli Satyaveni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Learners often know the career they want but do not know what to study first.</a:t>
            </a:r>
          </a:p>
          <a:p>
            <a:pPr>
              <a:spcAft>
                <a:spcPts val="1000"/>
              </a:spcAft>
              <a:defRPr sz="2000"/>
            </a:pPr>
            <a:r>
              <a:t>Generic learning lists may not consider current skill level, existing skills, study time, or target duration.</a:t>
            </a:r>
          </a:p>
          <a:p>
            <a:pPr>
              <a:spcAft>
                <a:spcPts val="1000"/>
              </a:spcAft>
              <a:defRPr sz="2000"/>
            </a:pPr>
            <a:r>
              <a:t>The project creates a structured, personalized learning roadmap from simple learner inputs.</a:t>
            </a:r>
          </a:p>
          <a:p>
            <a:pPr>
              <a:spcAft>
                <a:spcPts val="1000"/>
              </a:spcAft>
              <a:defRPr sz="2000"/>
            </a:pPr>
            <a:r>
              <a:t>Semantic retrieval helps identify relevant learning areas from a curated knowledge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Generate personalized learning roadmaps.</a:t>
            </a:r>
          </a:p>
          <a:p>
            <a:pPr>
              <a:spcAft>
                <a:spcPts val="1000"/>
              </a:spcAft>
              <a:defRPr sz="2000"/>
            </a:pPr>
            <a:r>
              <a:t>Use semantic retrieval to identify relevant knowledge-base topics.</a:t>
            </a:r>
          </a:p>
          <a:p>
            <a:pPr>
              <a:spcAft>
                <a:spcPts val="1000"/>
              </a:spcAft>
              <a:defRPr sz="2000"/>
            </a:pPr>
            <a:r>
              <a:t>Provide monthly topics, skills, projects, and outcomes.</a:t>
            </a:r>
          </a:p>
          <a:p>
            <a:pPr>
              <a:spcAft>
                <a:spcPts val="1000"/>
              </a:spcAft>
              <a:defRPr sz="2000"/>
            </a:pPr>
            <a:r>
              <a:t>Handle unsupported topics using a retrieval threshold and not-found response.</a:t>
            </a:r>
          </a:p>
          <a:p>
            <a:pPr>
              <a:spcAft>
                <a:spcPts val="1000"/>
              </a:spcAft>
              <a:defRPr sz="2000"/>
            </a:pPr>
            <a:r>
              <a:t>Provide an easy-to-use Gradio interface and deployable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User enters career goal, level, current skills, available study time, and duration.</a:t>
            </a:r>
          </a:p>
          <a:p>
            <a:pPr>
              <a:spcAft>
                <a:spcPts val="1000"/>
              </a:spcAft>
              <a:defRPr sz="2000"/>
            </a:pPr>
            <a:r>
              <a:t>Sentence Transformers converts the query into an embedding.</a:t>
            </a:r>
          </a:p>
          <a:p>
            <a:pPr>
              <a:spcAft>
                <a:spcPts val="1000"/>
              </a:spcAft>
              <a:defRPr sz="2000"/>
            </a:pPr>
            <a:r>
              <a:t>FAISS searches the project knowledge base using similarity.</a:t>
            </a:r>
          </a:p>
          <a:p>
            <a:pPr>
              <a:spcAft>
                <a:spcPts val="1000"/>
              </a:spcAft>
              <a:defRPr sz="2000"/>
            </a:pPr>
            <a:r>
              <a:t>Relevant topics are identified and combined with career-specific roadmap content.</a:t>
            </a:r>
          </a:p>
          <a:p>
            <a:pPr>
              <a:spcAft>
                <a:spcPts val="1000"/>
              </a:spcAft>
              <a:defRPr sz="2000"/>
            </a:pPr>
            <a:r>
              <a:t>Gradio displays the final month-by-month roadmap.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 Input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45920" y="2761488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74520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Gradio UI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2761488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Query Construction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72000" y="2761488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00600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Sentence Transformer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35040" y="2761488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FAISS Search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98080" y="2761488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26679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Threshold Check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19" y="2761488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89720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Roadmap Generator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424160" y="2761488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52760" y="2468880"/>
            <a:ext cx="1234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Markdown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— application and RAG logic</a:t>
            </a:r>
          </a:p>
          <a:p>
            <a:pPr>
              <a:spcAft>
                <a:spcPts val="1000"/>
              </a:spcAft>
              <a:defRPr sz="2000"/>
            </a:pPr>
            <a:r>
              <a:t>Gradio — web interface</a:t>
            </a:r>
          </a:p>
          <a:p>
            <a:pPr>
              <a:spcAft>
                <a:spcPts val="1000"/>
              </a:spcAft>
              <a:defRPr sz="2000"/>
            </a:pPr>
            <a:r>
              <a:t>Sentence Transformers — text embeddings</a:t>
            </a:r>
          </a:p>
          <a:p>
            <a:pPr>
              <a:spcAft>
                <a:spcPts val="1000"/>
              </a:spcAft>
              <a:defRPr sz="2000"/>
            </a:pPr>
            <a:r>
              <a:t>FAISS — vector similarity search</a:t>
            </a:r>
          </a:p>
          <a:p>
            <a:pPr>
              <a:spcAft>
                <a:spcPts val="1000"/>
              </a:spcAft>
              <a:defRPr sz="2000"/>
            </a:pPr>
            <a:r>
              <a:t>NumPy — numerical processing</a:t>
            </a:r>
          </a:p>
          <a:p>
            <a:pPr>
              <a:spcAft>
                <a:spcPts val="1000"/>
              </a:spcAft>
              <a:defRPr sz="2000"/>
            </a:pPr>
            <a:r>
              <a:t>Hugging Face Spaces — deployment</a:t>
            </a:r>
          </a:p>
          <a:p>
            <a:pPr>
              <a:spcAft>
                <a:spcPts val="1000"/>
              </a:spcAft>
              <a:defRPr sz="2000"/>
            </a:pPr>
            <a:r>
              <a:t>Qwen2.5-0.5B-Instruct — experimental prompt-engineering model; not used in final production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RAG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Knowledge base: 6 curated entries covering Data Analysis, SQL, Machine Learning, Data Visualization, Deep Learning, and Career Preparation.</a:t>
            </a:r>
          </a:p>
          <a:p>
            <a:pPr>
              <a:spcAft>
                <a:spcPts val="1000"/>
              </a:spcAft>
              <a:defRPr sz="1800"/>
            </a:pPr>
            <a:r>
              <a:t>Embedding model: sentence-transformers/all-MiniLM-L6-v2.</a:t>
            </a:r>
          </a:p>
          <a:p>
            <a:pPr>
              <a:spcAft>
                <a:spcPts val="1000"/>
              </a:spcAft>
              <a:defRPr sz="1800"/>
            </a:pPr>
            <a:r>
              <a:t>Embedding dimension: 384.</a:t>
            </a:r>
          </a:p>
          <a:p>
            <a:pPr>
              <a:spcAft>
                <a:spcPts val="1000"/>
              </a:spcAft>
              <a:defRPr sz="1800"/>
            </a:pPr>
            <a:r>
              <a:t>Vector store: FAISS IndexFlatL2.</a:t>
            </a:r>
          </a:p>
          <a:p>
            <a:pPr>
              <a:spcAft>
                <a:spcPts val="1000"/>
              </a:spcAft>
              <a:defRPr sz="1800"/>
            </a:pPr>
            <a:r>
              <a:t>Retrieval: top_k = 2 using L2 distance.</a:t>
            </a:r>
          </a:p>
          <a:p>
            <a:pPr>
              <a:spcAft>
                <a:spcPts val="1000"/>
              </a:spcAft>
              <a:defRPr sz="1800"/>
            </a:pPr>
            <a:r>
              <a:t>Threshold: 1.2; unsupported queries return “Information not found in the knowledge base.”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Before: “Create a simple learning roadmap for a beginner who wants to become a Python developer.”</a:t>
            </a:r>
          </a:p>
          <a:p>
            <a:pPr>
              <a:spcAft>
                <a:spcPts val="1000"/>
              </a:spcAft>
              <a:defRPr sz="1800"/>
            </a:pPr>
            <a:r>
              <a:t>After: a structured prompt with career goal, current level, current skills, study time, duration, and required output sections.</a:t>
            </a:r>
          </a:p>
          <a:p>
            <a:pPr>
              <a:spcAft>
                <a:spcPts val="1000"/>
              </a:spcAft>
              <a:defRPr sz="1800"/>
            </a:pPr>
            <a:r>
              <a:t>Both are zero-shot prompts because no examples are supplied.</a:t>
            </a:r>
          </a:p>
          <a:p>
            <a:pPr>
              <a:spcAft>
                <a:spcPts val="1000"/>
              </a:spcAft>
              <a:defRPr sz="1800"/>
            </a:pPr>
            <a:r>
              <a:t>Several strict-format experiments with the small Qwen model were unreliable.</a:t>
            </a:r>
          </a:p>
          <a:p>
            <a:pPr>
              <a:spcAft>
                <a:spcPts val="1000"/>
              </a:spcAft>
              <a:defRPr sz="1800"/>
            </a:pPr>
            <a:r>
              <a:t>Final solution: use retrieval + deterministic roadmap templates for reliable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Knowledge base stores topic descriptions.</a:t>
            </a:r>
          </a:p>
          <a:p>
            <a:pPr>
              <a:spcAft>
                <a:spcPts val="1000"/>
              </a:spcAft>
              <a:defRPr sz="2000"/>
            </a:pPr>
            <a:r>
              <a:t>Sentence Transformer encodes documents and queries.</a:t>
            </a:r>
          </a:p>
          <a:p>
            <a:pPr>
              <a:spcAft>
                <a:spcPts val="1000"/>
              </a:spcAft>
              <a:defRPr sz="2000"/>
            </a:pPr>
            <a:r>
              <a:t>FAISS performs semantic retrieval.</a:t>
            </a:r>
          </a:p>
          <a:p>
            <a:pPr>
              <a:spcAft>
                <a:spcPts val="1000"/>
              </a:spcAft>
              <a:defRPr sz="2000"/>
            </a:pPr>
            <a:r>
              <a:t>Career-specific roadmap content defines monthly learning phases.</a:t>
            </a:r>
          </a:p>
          <a:p>
            <a:pPr>
              <a:spcAft>
                <a:spcPts val="1000"/>
              </a:spcAft>
              <a:defRPr sz="2000"/>
            </a:pPr>
            <a:r>
              <a:t>Validation checks all required monthly sections.</a:t>
            </a:r>
          </a:p>
          <a:p>
            <a:pPr>
              <a:spcAft>
                <a:spcPts val="1000"/>
              </a:spcAft>
              <a:defRPr sz="2000"/>
            </a:pPr>
            <a:r>
              <a:t>Gradio connects user inputs to the roadmap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Machine Learning Engineer — Beginner — Python — 3 hours/day — 6 months.</a:t>
            </a:r>
          </a:p>
          <a:p>
            <a:pPr>
              <a:spcAft>
                <a:spcPts val="1000"/>
              </a:spcAft>
              <a:defRPr sz="1800"/>
            </a:pPr>
            <a:r>
              <a:t>Data Scientist — Intermediate — Python, SQL, Pandas, NumPy — 2 hours/day — 6 months.</a:t>
            </a:r>
          </a:p>
          <a:p>
            <a:pPr>
              <a:spcAft>
                <a:spcPts val="1000"/>
              </a:spcAft>
              <a:defRPr sz="1800"/>
            </a:pPr>
            <a:r>
              <a:t>Data Analyst — Advanced — Python, SQL — 1 hour/day — 3 months.</a:t>
            </a:r>
          </a:p>
          <a:p>
            <a:pPr>
              <a:spcAft>
                <a:spcPts val="1000"/>
              </a:spcAft>
              <a:defRPr sz="1800"/>
            </a:pPr>
            <a:r>
              <a:t>Professional Chef — unsupported test; retrieval correctly returned not found after threshold adjustment.</a:t>
            </a:r>
          </a:p>
          <a:p>
            <a:pPr>
              <a:spcAft>
                <a:spcPts val="1000"/>
              </a:spcAft>
              <a:defRPr sz="1800"/>
            </a:pPr>
            <a:r>
              <a:t>Validation test passed for six-month structured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Results / Sample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ML Engineer: Focus → Machine Learning, Deep Learning.</a:t>
            </a:r>
          </a:p>
          <a:p>
            <a:pPr>
              <a:spcAft>
                <a:spcPts val="1000"/>
              </a:spcAft>
              <a:defRPr sz="2000"/>
            </a:pPr>
            <a:r>
              <a:t>Data Scientist: Focus → Data Analysis, Machine Learning.</a:t>
            </a:r>
          </a:p>
          <a:p>
            <a:pPr>
              <a:spcAft>
                <a:spcPts val="1000"/>
              </a:spcAft>
              <a:defRPr sz="2000"/>
            </a:pPr>
            <a:r>
              <a:t>Data Analyst: Focus → Data Analysis, SQL.</a:t>
            </a:r>
          </a:p>
          <a:p>
            <a:pPr>
              <a:spcAft>
                <a:spcPts val="1000"/>
              </a:spcAft>
              <a:defRPr sz="2000"/>
            </a:pPr>
            <a:r>
              <a:t>Each supported roadmap contains topics, skills, project work, and outcomes.</a:t>
            </a:r>
          </a:p>
          <a:p>
            <a:pPr>
              <a:spcAft>
                <a:spcPts val="1000"/>
              </a:spcAft>
              <a:defRPr sz="2000"/>
            </a:pPr>
            <a:r>
              <a:t>Unsupported careers are explicitly identified at the retrieval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Challenges and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Small-model instruction following → moved strict structure to deterministic templates.</a:t>
            </a:r>
          </a:p>
          <a:p>
            <a:pPr>
              <a:spcAft>
                <a:spcPts val="1000"/>
              </a:spcAft>
              <a:defRPr sz="1800"/>
            </a:pPr>
            <a:r>
              <a:t>False semantic matches → reduced FAISS distance threshold from 1.5 to 1.2.</a:t>
            </a:r>
          </a:p>
          <a:p>
            <a:pPr>
              <a:spcAft>
                <a:spcPts val="1000"/>
              </a:spcAft>
              <a:defRPr sz="1800"/>
            </a:pPr>
            <a:r>
              <a:t>Colab runtime resets → recreated files and verified syntax/existence.</a:t>
            </a:r>
          </a:p>
          <a:p>
            <a:pPr>
              <a:spcAft>
                <a:spcPts val="1000"/>
              </a:spcAft>
              <a:defRPr sz="1800"/>
            </a:pPr>
            <a:r>
              <a:t>Deployment CPU quota → documented the Hugging Face Space limitation.</a:t>
            </a:r>
          </a:p>
          <a:p>
            <a:pPr>
              <a:spcAft>
                <a:spcPts val="1000"/>
              </a:spcAft>
              <a:defRPr sz="1800"/>
            </a:pPr>
            <a:r>
              <a:t>Output consistency → added roadmap validation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Small curated knowledge base.</a:t>
            </a:r>
          </a:p>
          <a:p>
            <a:pPr>
              <a:spcAft>
                <a:spcPts val="1000"/>
              </a:spcAft>
              <a:defRPr sz="2000"/>
            </a:pPr>
            <a:r>
              <a:t>Career-specific content currently covers selected technology careers.</a:t>
            </a:r>
          </a:p>
          <a:p>
            <a:pPr>
              <a:spcAft>
                <a:spcPts val="1000"/>
              </a:spcAft>
              <a:defRPr sz="2000"/>
            </a:pPr>
            <a:r>
              <a:t>Final pipeline is not fully LLM-generated.</a:t>
            </a:r>
          </a:p>
          <a:p>
            <a:pPr>
              <a:spcAft>
                <a:spcPts val="1000"/>
              </a:spcAft>
              <a:defRPr sz="2000"/>
            </a:pPr>
            <a:r>
              <a:t>Unsupported careers can receive a generic fallback roadmap.</a:t>
            </a:r>
          </a:p>
          <a:p>
            <a:pPr>
              <a:spcAft>
                <a:spcPts val="1000"/>
              </a:spcAft>
              <a:defRPr sz="2000"/>
            </a:pPr>
            <a:r>
              <a:t>No live course, job-market, or salary data.</a:t>
            </a:r>
          </a:p>
          <a:p>
            <a:pPr>
              <a:spcAft>
                <a:spcPts val="1000"/>
              </a:spcAft>
              <a:defRPr sz="2000"/>
            </a:pPr>
            <a:r>
              <a:t>Free deployment resources may affect availability.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Expand the knowledge base with curated learning resources.</a:t>
            </a:r>
          </a:p>
          <a:p>
            <a:pPr>
              <a:spcAft>
                <a:spcPts val="1000"/>
              </a:spcAft>
              <a:defRPr sz="2000"/>
            </a:pPr>
            <a:r>
              <a:t>Add document chunking and larger source collections.</a:t>
            </a:r>
          </a:p>
          <a:p>
            <a:pPr>
              <a:spcAft>
                <a:spcPts val="1000"/>
              </a:spcAft>
              <a:defRPr sz="2000"/>
            </a:pPr>
            <a:r>
              <a:t>Integrate a stronger instruction-following LLM.</a:t>
            </a:r>
          </a:p>
          <a:p>
            <a:pPr>
              <a:spcAft>
                <a:spcPts val="1000"/>
              </a:spcAft>
              <a:defRPr sz="2000"/>
            </a:pPr>
            <a:r>
              <a:t>Add progress tracking and learner profiles.</a:t>
            </a:r>
          </a:p>
          <a:p>
            <a:pPr>
              <a:spcAft>
                <a:spcPts val="1000"/>
              </a:spcAft>
              <a:defRPr sz="2000"/>
            </a:pPr>
            <a:r>
              <a:t>Add source-cited course and project recommendations.</a:t>
            </a:r>
          </a:p>
          <a:p>
            <a:pPr>
              <a:spcAft>
                <a:spcPts val="1000"/>
              </a:spcAft>
              <a:defRPr sz="2000"/>
            </a:pPr>
            <a:r>
              <a:t>Improve retrieval evaluation with labeled test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Platform: Hugging Face Spaces</a:t>
            </a:r>
          </a:p>
          <a:p>
            <a:pPr>
              <a:spcAft>
                <a:spcPts val="1000"/>
              </a:spcAft>
              <a:defRPr sz="1700"/>
            </a:pPr>
            <a:r>
              <a:t>Framework: Gradio</a:t>
            </a:r>
          </a:p>
          <a:p>
            <a:pPr>
              <a:spcAft>
                <a:spcPts val="1000"/>
              </a:spcAft>
              <a:defRPr sz="1700"/>
            </a:pPr>
            <a:r>
              <a:t>Project: AI Learning Roadmap Generator</a:t>
            </a:r>
          </a:p>
          <a:p>
            <a:pPr>
              <a:spcAft>
                <a:spcPts val="1000"/>
              </a:spcAft>
              <a:defRPr sz="1700"/>
            </a:pPr>
            <a:r>
              <a:t>Public project page: https://huggingface.co/spaces/Jayapriyar/AI-Learning-Roadmap-Generator</a:t>
            </a:r>
          </a:p>
          <a:p>
            <a:pPr>
              <a:spcAft>
                <a:spcPts val="1000"/>
              </a:spcAft>
              <a:defRPr sz="1700"/>
            </a:pPr>
            <a:r>
              <a:t>Local run: pip install -r requirements.txt  →  python app.py</a:t>
            </a:r>
          </a:p>
          <a:p>
            <a:pPr>
              <a:spcAft>
                <a:spcPts val="1000"/>
              </a:spcAft>
              <a:defRPr sz="1700"/>
            </a:pPr>
            <a:r>
              <a:t>Current note: the Space may show a CPU Basic quota limitation; repository files remain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User Interface / Demo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10332720" cy="4023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INSERT FINAL GRADIO SCREENSHOT HERE</a:t>
            </a:r>
          </a:p>
          <a:p/>
          <a:p>
            <a:r>
              <a:t>Show:</a:t>
            </a:r>
          </a:p>
          <a:p>
            <a:r>
              <a:t>• Career Goal</a:t>
            </a:r>
          </a:p>
          <a:p>
            <a:r>
              <a:t>• Current Level</a:t>
            </a:r>
          </a:p>
          <a:p>
            <a:r>
              <a:t>• Current Skills</a:t>
            </a:r>
          </a:p>
          <a:p>
            <a:r>
              <a:t>• Study Time</a:t>
            </a:r>
          </a:p>
          <a:p>
            <a:r>
              <a:t>• Learning Duration</a:t>
            </a:r>
          </a:p>
          <a:p>
            <a:r>
              <a:t>• Generated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Figure: Gradio interface with a real user query and generated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project demonstrates personalized learning-roadmap generation using semantic retrieval and structured generation.</a:t>
            </a:r>
          </a:p>
          <a:p>
            <a:pPr>
              <a:spcAft>
                <a:spcPts val="1000"/>
              </a:spcAft>
              <a:defRPr sz="2000"/>
            </a:pPr>
            <a:r>
              <a:t>RAG identifies relevant knowledge areas and reduces unsupported retrieval.</a:t>
            </a:r>
          </a:p>
          <a:p>
            <a:pPr>
              <a:spcAft>
                <a:spcPts val="1000"/>
              </a:spcAft>
              <a:defRPr sz="2000"/>
            </a:pPr>
            <a:r>
              <a:t>Prompt-engineering experiments highlighted the limits of small models for strict formatting.</a:t>
            </a:r>
          </a:p>
          <a:p>
            <a:pPr>
              <a:spcAft>
                <a:spcPts val="1000"/>
              </a:spcAft>
              <a:defRPr sz="2000"/>
            </a:pPr>
            <a:r>
              <a:t>The final application combines reliable deterministic roadmap structure with retrieval-based personalization.</a:t>
            </a:r>
          </a:p>
          <a:p>
            <a:pPr>
              <a:spcAft>
                <a:spcPts val="1000"/>
              </a:spcAft>
              <a:defRPr sz="2000"/>
            </a:pPr>
            <a:r>
              <a:t>The system provides a practical foundation for future expansion into a larger learning assistant.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Thank You</a:t>
            </a:r>
          </a:p>
          <a:p>
            <a:pPr algn="ctr">
              <a:defRPr sz="2400"/>
            </a:pPr>
            <a:r>
              <a:t>AI Learning Roadmap Generator</a:t>
            </a:r>
          </a:p>
          <a:p>
            <a:br/>
            <a:pPr algn="ctr">
              <a:defRPr sz="1800"/>
            </a:pPr>
            <a:r>
              <a:t>Y. Lakshmi Prasanna  |  R. Jayapriya  |  Alli Satyaveni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